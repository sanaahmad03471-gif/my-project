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68" r:id="rId3"/>
    <p:sldId id="257" r:id="rId5"/>
    <p:sldId id="258" r:id="rId6"/>
    <p:sldId id="259" r:id="rId7"/>
    <p:sldId id="260" r:id="rId8"/>
    <p:sldId id="261" r:id="rId9"/>
    <p:sldId id="262" r:id="rId10"/>
    <p:sldId id="263" r:id="rId11"/>
    <p:sldId id="264" r:id="rId12"/>
    <p:sldId id="265" r:id="rId13"/>
    <p:sldId id="266" r:id="rId14"/>
  </p:sldIdLst>
  <p:sldSz cx="9144000" cy="5143500" type="screen16x9"/>
  <p:notesSz cx="5143500" cy="9144000"/>
  <p:custDataLst>
    <p:tags r:id="rId1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showGuides="1">
      <p:cViewPr varScale="1">
        <p:scale>
          <a:sx n="102" d="100"/>
          <a:sy n="102" d="100"/>
        </p:scale>
        <p:origin x="86" y="67"/>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29.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tags" Target="../tags/tag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p:cNvGrpSpPr/>
          <p:nvPr userDrawn="1"/>
        </p:nvGrpSpPr>
        <p:grpSpPr>
          <a:xfrm flipH="1">
            <a:off x="0" y="5036127"/>
            <a:ext cx="9144000" cy="107373"/>
            <a:chOff x="0" y="0"/>
            <a:chExt cx="4402382" cy="66464"/>
          </a:xfrm>
        </p:grpSpPr>
        <p:sp>
          <p:nvSpPr>
            <p:cNvPr id="3" name="Freeform 9"/>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p:cNvSpPr txBox="1"/>
            <p:nvPr/>
          </p:nvSpPr>
          <p:spPr>
            <a:xfrm>
              <a:off x="0" y="-38100"/>
              <a:ext cx="4402382" cy="104564"/>
            </a:xfrm>
            <a:prstGeom prst="rect">
              <a:avLst/>
            </a:prstGeom>
          </p:spPr>
          <p:txBody>
            <a:bodyPr lIns="50800" tIns="50800" rIns="50800" bIns="50800" rtlCol="0" anchor="ctr"/>
            <a:lstStyle/>
            <a:p>
              <a:pPr algn="ctr">
                <a:lnSpc>
                  <a:spcPts val="2660"/>
                </a:lnSpc>
              </a:pPr>
            </a:p>
          </p:txBody>
        </p:sp>
      </p:grpSp>
      <p:grpSp>
        <p:nvGrpSpPr>
          <p:cNvPr id="5" name="Group 8"/>
          <p:cNvGrpSpPr/>
          <p:nvPr userDrawn="1"/>
        </p:nvGrpSpPr>
        <p:grpSpPr>
          <a:xfrm>
            <a:off x="0" y="0"/>
            <a:ext cx="9144000" cy="424206"/>
            <a:chOff x="0" y="0"/>
            <a:chExt cx="4402382" cy="66464"/>
          </a:xfrm>
        </p:grpSpPr>
        <p:sp>
          <p:nvSpPr>
            <p:cNvPr id="6" name="Freeform 9"/>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p:cNvSpPr txBox="1"/>
            <p:nvPr/>
          </p:nvSpPr>
          <p:spPr>
            <a:xfrm>
              <a:off x="0" y="-38100"/>
              <a:ext cx="4402382" cy="104564"/>
            </a:xfrm>
            <a:prstGeom prst="rect">
              <a:avLst/>
            </a:prstGeom>
          </p:spPr>
          <p:txBody>
            <a:bodyPr lIns="50800" tIns="50800" rIns="50800" bIns="50800" rtlCol="0" anchor="ctr"/>
            <a:lstStyle/>
            <a:p>
              <a:pPr algn="ctr">
                <a:lnSpc>
                  <a:spcPts val="2660"/>
                </a:lnSpc>
              </a:pPr>
            </a:p>
          </p:txBody>
        </p:sp>
      </p:grpSp>
      <p:pic>
        <p:nvPicPr>
          <p:cNvPr id="8" name="Picture 7" descr="A black and white logo&#10;&#10;AI-generated content may be incorrect."/>
          <p:cNvPicPr>
            <a:picLocks noChangeAspect="1"/>
          </p:cNvPicPr>
          <p:nvPr userDrawn="1"/>
        </p:nvPicPr>
        <p:blipFill>
          <a:blip r:embed="rId3"/>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svg"/><Relationship Id="rId10" Type="http://schemas.openxmlformats.org/officeDocument/2006/relationships/notesSlide" Target="../notesSlides/notesSlide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tags" Target="../tags/tag4.xml"/><Relationship Id="rId2" Type="http://schemas.openxmlformats.org/officeDocument/2006/relationships/image" Target="../media/image11.svg"/><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9" Type="http://schemas.openxmlformats.org/officeDocument/2006/relationships/notesSlide" Target="../notesSlides/notesSlide6.xml"/><Relationship Id="rId18" Type="http://schemas.openxmlformats.org/officeDocument/2006/relationships/slideLayout" Target="../slideLayouts/slideLayout1.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2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Rounded Corners 74"/>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p:cNvGrpSpPr/>
          <p:nvPr/>
        </p:nvGrpSpPr>
        <p:grpSpPr>
          <a:xfrm>
            <a:off x="0" y="0"/>
            <a:ext cx="4153368" cy="126178"/>
            <a:chOff x="0" y="0"/>
            <a:chExt cx="2187782" cy="66464"/>
          </a:xfrm>
        </p:grpSpPr>
        <p:sp>
          <p:nvSpPr>
            <p:cNvPr id="3" name="Freeform 3"/>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p:cNvGrpSpPr/>
          <p:nvPr/>
        </p:nvGrpSpPr>
        <p:grpSpPr>
          <a:xfrm>
            <a:off x="0" y="5017322"/>
            <a:ext cx="7571294" cy="126178"/>
            <a:chOff x="0" y="0"/>
            <a:chExt cx="3988171" cy="66464"/>
          </a:xfrm>
        </p:grpSpPr>
        <p:sp>
          <p:nvSpPr>
            <p:cNvPr id="6" name="Freeform 6"/>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p:cNvGrpSpPr/>
          <p:nvPr/>
        </p:nvGrpSpPr>
        <p:grpSpPr>
          <a:xfrm rot="2700000">
            <a:off x="3661769" y="-528997"/>
            <a:ext cx="4602320" cy="2123257"/>
            <a:chOff x="0" y="0"/>
            <a:chExt cx="2424267" cy="1118423"/>
          </a:xfrm>
        </p:grpSpPr>
        <p:sp>
          <p:nvSpPr>
            <p:cNvPr id="9" name="Freeform 9"/>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p:cNvGrpSpPr/>
          <p:nvPr/>
        </p:nvGrpSpPr>
        <p:grpSpPr>
          <a:xfrm rot="2700000">
            <a:off x="5632358" y="303921"/>
            <a:ext cx="3724082" cy="1064394"/>
            <a:chOff x="0" y="0"/>
            <a:chExt cx="1961656" cy="560668"/>
          </a:xfrm>
        </p:grpSpPr>
        <p:sp>
          <p:nvSpPr>
            <p:cNvPr id="12" name="Freeform 12"/>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p:cNvGrpSpPr/>
          <p:nvPr/>
        </p:nvGrpSpPr>
        <p:grpSpPr>
          <a:xfrm rot="2700000">
            <a:off x="7528217" y="-892816"/>
            <a:ext cx="2873959" cy="1967021"/>
            <a:chOff x="0" y="0"/>
            <a:chExt cx="1513855" cy="1036126"/>
          </a:xfrm>
        </p:grpSpPr>
        <p:sp>
          <p:nvSpPr>
            <p:cNvPr id="15" name="Freeform 15"/>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p:cNvGrpSpPr/>
          <p:nvPr/>
        </p:nvGrpSpPr>
        <p:grpSpPr>
          <a:xfrm rot="2700000">
            <a:off x="6756840" y="4003698"/>
            <a:ext cx="4602320" cy="2123257"/>
            <a:chOff x="0" y="0"/>
            <a:chExt cx="2424267" cy="1118423"/>
          </a:xfrm>
        </p:grpSpPr>
        <p:sp>
          <p:nvSpPr>
            <p:cNvPr id="18" name="Freeform 18"/>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p:cNvGrpSpPr/>
          <p:nvPr/>
        </p:nvGrpSpPr>
        <p:grpSpPr>
          <a:xfrm rot="2700000">
            <a:off x="7842195" y="3672519"/>
            <a:ext cx="2166949" cy="1126189"/>
            <a:chOff x="0" y="0"/>
            <a:chExt cx="1141438" cy="593219"/>
          </a:xfrm>
        </p:grpSpPr>
        <p:sp>
          <p:nvSpPr>
            <p:cNvPr id="21" name="Freeform 21"/>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p:cNvGrpSpPr/>
          <p:nvPr/>
        </p:nvGrpSpPr>
        <p:grpSpPr>
          <a:xfrm>
            <a:off x="5720497" y="768985"/>
            <a:ext cx="3475712" cy="3475712"/>
            <a:chOff x="0" y="0"/>
            <a:chExt cx="812800" cy="812800"/>
          </a:xfrm>
        </p:grpSpPr>
        <p:sp>
          <p:nvSpPr>
            <p:cNvPr id="24" name="Freeform 24"/>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sz="700"/>
          </a:p>
        </p:txBody>
      </p:sp>
      <p:sp>
        <p:nvSpPr>
          <p:cNvPr id="35" name="Freeform 35"/>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sz="700"/>
          </a:p>
        </p:txBody>
      </p:sp>
      <p:sp>
        <p:nvSpPr>
          <p:cNvPr id="36" name="Freeform 36"/>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sz="700"/>
          </a:p>
        </p:txBody>
      </p:sp>
      <p:grpSp>
        <p:nvGrpSpPr>
          <p:cNvPr id="47" name="Group 46"/>
          <p:cNvGrpSpPr/>
          <p:nvPr/>
        </p:nvGrpSpPr>
        <p:grpSpPr>
          <a:xfrm>
            <a:off x="467995" y="3066955"/>
            <a:ext cx="4295775" cy="647700"/>
            <a:chOff x="0" y="2785821"/>
            <a:chExt cx="5635367" cy="937887"/>
          </a:xfrm>
        </p:grpSpPr>
        <p:grpSp>
          <p:nvGrpSpPr>
            <p:cNvPr id="28" name="Group 28"/>
            <p:cNvGrpSpPr/>
            <p:nvPr/>
          </p:nvGrpSpPr>
          <p:grpSpPr>
            <a:xfrm>
              <a:off x="0" y="2785821"/>
              <a:ext cx="4224335" cy="631190"/>
              <a:chOff x="0" y="-244352"/>
              <a:chExt cx="4355842" cy="650840"/>
            </a:xfrm>
          </p:grpSpPr>
          <p:sp>
            <p:nvSpPr>
              <p:cNvPr id="29" name="Freeform 29"/>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p:cNvSpPr txBox="1"/>
              <p:nvPr/>
            </p:nvSpPr>
            <p:spPr>
              <a:xfrm>
                <a:off x="0" y="-244352"/>
                <a:ext cx="4241588" cy="650840"/>
              </a:xfrm>
              <a:prstGeom prst="rect">
                <a:avLst/>
              </a:prstGeom>
            </p:spPr>
            <p:txBody>
              <a:bodyPr lIns="25400" tIns="25400" rIns="25400" bIns="25400" rtlCol="0" anchor="ctr"/>
              <a:lstStyle/>
              <a:p>
                <a:pPr algn="ctr">
                  <a:lnSpc>
                    <a:spcPts val="1330"/>
                  </a:lnSpc>
                </a:pPr>
                <a:endParaRPr lang="en-US" sz="700" b="1" spc="583" dirty="0">
                  <a:solidFill>
                    <a:srgbClr val="FFFFFF"/>
                  </a:solidFill>
                  <a:latin typeface="Arial" panose="020B0604020202020204" pitchFamily="34" charset="0"/>
                  <a:ea typeface="Aileron Bold"/>
                  <a:cs typeface="Arial" panose="020B0604020202020204" pitchFamily="34" charset="0"/>
                  <a:sym typeface="Aileron Bold"/>
                </a:endParaRPr>
              </a:p>
            </p:txBody>
          </p:sp>
        </p:grpSp>
        <p:sp>
          <p:nvSpPr>
            <p:cNvPr id="44" name="TextBox 44"/>
            <p:cNvSpPr txBox="1"/>
            <p:nvPr/>
          </p:nvSpPr>
          <p:spPr>
            <a:xfrm>
              <a:off x="226581" y="2959606"/>
              <a:ext cx="5408786" cy="764102"/>
            </a:xfrm>
            <a:prstGeom prst="rect">
              <a:avLst/>
            </a:prstGeom>
          </p:spPr>
          <p:style>
            <a:lnRef idx="2">
              <a:schemeClr val="accent1"/>
            </a:lnRef>
            <a:fillRef idx="0">
              <a:srgbClr val="FFFFFF"/>
            </a:fillRef>
            <a:effectRef idx="0">
              <a:srgbClr val="FFFFFF"/>
            </a:effectRef>
            <a:fontRef idx="minor">
              <a:schemeClr val="tx1"/>
            </a:fontRef>
          </p:style>
          <p:txBody>
            <a:bodyPr lIns="0" tIns="0" rIns="0" bIns="0" rtlCol="0" anchor="t">
              <a:noAutofit/>
            </a:bodyPr>
            <a:lstStyle/>
            <a:p>
              <a:pPr>
                <a:lnSpc>
                  <a:spcPts val="1945"/>
                </a:lnSpc>
              </a:pPr>
              <a:r>
                <a:rPr lang="en-US" sz="7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endParaRPr lang="en-US" sz="700" b="1" spc="583" dirty="0">
                <a:solidFill>
                  <a:srgbClr val="FFFFFF"/>
                </a:solidFill>
                <a:latin typeface="Arial" panose="020B0604020202020204" pitchFamily="34" charset="0"/>
                <a:ea typeface="Aileron Bold"/>
                <a:cs typeface="Arial" panose="020B0604020202020204" pitchFamily="34" charset="0"/>
                <a:sym typeface="Aileron Bold"/>
              </a:endParaRPr>
            </a:p>
            <a:p>
              <a:pPr>
                <a:lnSpc>
                  <a:spcPts val="1945"/>
                </a:lnSpc>
              </a:pPr>
              <a:r>
                <a:rPr lang="en-US" sz="700" b="1" spc="583" dirty="0">
                  <a:solidFill>
                    <a:srgbClr val="FFFFFF"/>
                  </a:solidFill>
                  <a:latin typeface="Arial" panose="020B0604020202020204" pitchFamily="34" charset="0"/>
                  <a:ea typeface="Aileron Bold"/>
                  <a:cs typeface="Arial" panose="020B0604020202020204" pitchFamily="34" charset="0"/>
                  <a:sym typeface="Aileron Bold"/>
                </a:rPr>
                <a:t>p</a:t>
              </a:r>
              <a:endParaRPr lang="en-US" sz="700" b="1" spc="583" dirty="0">
                <a:solidFill>
                  <a:srgbClr val="FFFFFF"/>
                </a:solidFill>
                <a:latin typeface="Arial" panose="020B0604020202020204" pitchFamily="34" charset="0"/>
                <a:ea typeface="Aileron Bold"/>
                <a:cs typeface="Arial" panose="020B0604020202020204" pitchFamily="34" charset="0"/>
                <a:sym typeface="Aileron Bold"/>
              </a:endParaRPr>
            </a:p>
          </p:txBody>
        </p:sp>
      </p:grpSp>
      <p:sp>
        <p:nvSpPr>
          <p:cNvPr id="40" name="TextBox 40"/>
          <p:cNvSpPr txBox="1"/>
          <p:nvPr/>
        </p:nvSpPr>
        <p:spPr>
          <a:xfrm>
            <a:off x="854979" y="3645023"/>
            <a:ext cx="1633432" cy="154209"/>
          </a:xfrm>
          <a:prstGeom prst="rect">
            <a:avLst/>
          </a:prstGeom>
        </p:spPr>
        <p:txBody>
          <a:bodyPr lIns="0" tIns="0" rIns="0" bIns="0" rtlCol="0" anchor="t">
            <a:spAutoFit/>
          </a:bodyPr>
          <a:lstStyle/>
          <a:p>
            <a:pPr>
              <a:lnSpc>
                <a:spcPts val="1295"/>
              </a:lnSpc>
            </a:pPr>
            <a:r>
              <a:rPr lang="en-US" sz="1000" dirty="0">
                <a:latin typeface="Arial" panose="020B0604020202020204" pitchFamily="34" charset="0"/>
                <a:ea typeface="Aileron"/>
                <a:cs typeface="Arial" panose="020B0604020202020204" pitchFamily="34" charset="0"/>
                <a:sym typeface="Aileron"/>
              </a:rPr>
              <a:t>Student Name</a:t>
            </a:r>
            <a:endParaRPr lang="en-US" sz="1000" dirty="0">
              <a:latin typeface="Arial" panose="020B0604020202020204" pitchFamily="34" charset="0"/>
              <a:ea typeface="Aileron"/>
              <a:cs typeface="Arial" panose="020B0604020202020204" pitchFamily="34" charset="0"/>
              <a:sym typeface="Aileron"/>
            </a:endParaRPr>
          </a:p>
        </p:txBody>
      </p:sp>
      <p:sp>
        <p:nvSpPr>
          <p:cNvPr id="42" name="TextBox 42"/>
          <p:cNvSpPr txBox="1"/>
          <p:nvPr/>
        </p:nvSpPr>
        <p:spPr>
          <a:xfrm>
            <a:off x="854979" y="3806607"/>
            <a:ext cx="1633432" cy="260985"/>
          </a:xfrm>
          <a:prstGeom prst="rect">
            <a:avLst/>
          </a:prstGeom>
        </p:spPr>
        <p:txBody>
          <a:bodyPr lIns="0" tIns="0" rIns="0" bIns="0" rtlCol="0" anchor="t">
            <a:spAutoFit/>
          </a:bodyPr>
          <a:lstStyle/>
          <a:p>
            <a:pPr>
              <a:lnSpc>
                <a:spcPts val="2040"/>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Syed Sana Ahmad</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p:cNvPicPr>
            <a:picLocks noChangeAspect="1"/>
          </p:cNvPicPr>
          <p:nvPr/>
        </p:nvPicPr>
        <p:blipFill>
          <a:blip r:embed="rId3"/>
          <a:srcRect l="26757" t="2453" r="27842" b="53701"/>
          <a:stretch>
            <a:fillRect/>
          </a:stretch>
        </p:blipFill>
        <p:spPr>
          <a:xfrm>
            <a:off x="429808" y="3639905"/>
            <a:ext cx="395331" cy="381795"/>
          </a:xfrm>
          <a:prstGeom prst="rect">
            <a:avLst/>
          </a:prstGeom>
        </p:spPr>
      </p:pic>
      <p:sp>
        <p:nvSpPr>
          <p:cNvPr id="41" name="TextBox 41"/>
          <p:cNvSpPr txBox="1"/>
          <p:nvPr/>
        </p:nvSpPr>
        <p:spPr>
          <a:xfrm>
            <a:off x="3176086" y="3642226"/>
            <a:ext cx="1809978" cy="154209"/>
          </a:xfrm>
          <a:prstGeom prst="rect">
            <a:avLst/>
          </a:prstGeom>
        </p:spPr>
        <p:txBody>
          <a:bodyPr lIns="0" tIns="0" rIns="0" bIns="0" rtlCol="0" anchor="t">
            <a:spAutoFit/>
          </a:bodyPr>
          <a:lstStyle/>
          <a:p>
            <a:pPr>
              <a:lnSpc>
                <a:spcPts val="1295"/>
              </a:lnSpc>
            </a:pPr>
            <a:r>
              <a:rPr lang="en-US" sz="1000" dirty="0">
                <a:latin typeface="Arial" panose="020B0604020202020204" pitchFamily="34" charset="0"/>
                <a:ea typeface="Aileron"/>
                <a:cs typeface="Arial" panose="020B0604020202020204" pitchFamily="34" charset="0"/>
                <a:sym typeface="Aileron"/>
              </a:rPr>
              <a:t>Student Email</a:t>
            </a:r>
            <a:endParaRPr lang="en-US" sz="1000" dirty="0">
              <a:latin typeface="Arial" panose="020B0604020202020204" pitchFamily="34" charset="0"/>
              <a:ea typeface="Aileron"/>
              <a:cs typeface="Arial" panose="020B0604020202020204" pitchFamily="34" charset="0"/>
              <a:sym typeface="Aileron"/>
            </a:endParaRPr>
          </a:p>
        </p:txBody>
      </p:sp>
      <p:sp>
        <p:nvSpPr>
          <p:cNvPr id="43" name="TextBox 43"/>
          <p:cNvSpPr txBox="1"/>
          <p:nvPr/>
        </p:nvSpPr>
        <p:spPr>
          <a:xfrm>
            <a:off x="3176086" y="3803810"/>
            <a:ext cx="2272871" cy="260985"/>
          </a:xfrm>
          <a:prstGeom prst="rect">
            <a:avLst/>
          </a:prstGeom>
        </p:spPr>
        <p:txBody>
          <a:bodyPr lIns="0" tIns="0" rIns="0" bIns="0" rtlCol="0" anchor="t">
            <a:spAutoFit/>
          </a:bodyPr>
          <a:lstStyle/>
          <a:p>
            <a:pPr>
              <a:lnSpc>
                <a:spcPts val="2040"/>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sanaahmad03471@gmail.com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p:cNvPicPr>
            <a:picLocks noChangeAspect="1"/>
          </p:cNvPicPr>
          <p:nvPr/>
        </p:nvPicPr>
        <p:blipFill>
          <a:blip r:embed="rId3"/>
          <a:srcRect l="26859" t="52379" r="26874" b="2349"/>
          <a:stretch>
            <a:fillRect/>
          </a:stretch>
        </p:blipFill>
        <p:spPr>
          <a:xfrm>
            <a:off x="2747249" y="3631981"/>
            <a:ext cx="398279" cy="389719"/>
          </a:xfrm>
          <a:prstGeom prst="rect">
            <a:avLst/>
          </a:prstGeom>
        </p:spPr>
      </p:pic>
      <p:grpSp>
        <p:nvGrpSpPr>
          <p:cNvPr id="66" name="Group 65"/>
          <p:cNvGrpSpPr/>
          <p:nvPr/>
        </p:nvGrpSpPr>
        <p:grpSpPr>
          <a:xfrm>
            <a:off x="860459" y="4337076"/>
            <a:ext cx="2272871" cy="422569"/>
            <a:chOff x="3139699" y="4295282"/>
            <a:chExt cx="2272871" cy="422569"/>
          </a:xfrm>
        </p:grpSpPr>
        <p:sp>
          <p:nvSpPr>
            <p:cNvPr id="67" name="TextBox 41"/>
            <p:cNvSpPr txBox="1"/>
            <p:nvPr/>
          </p:nvSpPr>
          <p:spPr>
            <a:xfrm>
              <a:off x="3139699" y="4295282"/>
              <a:ext cx="1809978" cy="158890"/>
            </a:xfrm>
            <a:prstGeom prst="rect">
              <a:avLst/>
            </a:prstGeom>
          </p:spPr>
          <p:txBody>
            <a:bodyPr lIns="0" tIns="0" rIns="0" bIns="0" rtlCol="0" anchor="t">
              <a:spAutoFit/>
            </a:bodyPr>
            <a:lstStyle/>
            <a:p>
              <a:pPr>
                <a:lnSpc>
                  <a:spcPts val="1295"/>
                </a:lnSpc>
              </a:pPr>
              <a:r>
                <a:rPr lang="en-US" sz="1000" dirty="0">
                  <a:latin typeface="Arial" panose="020B0604020202020204" pitchFamily="34" charset="0"/>
                  <a:ea typeface="Aileron"/>
                  <a:cs typeface="Arial" panose="020B0604020202020204" pitchFamily="34" charset="0"/>
                  <a:sym typeface="Aileron"/>
                </a:rPr>
                <a:t>Mentor Name</a:t>
              </a:r>
              <a:endParaRPr lang="en-US" sz="1000" dirty="0">
                <a:latin typeface="Arial" panose="020B0604020202020204" pitchFamily="34" charset="0"/>
                <a:ea typeface="Aileron"/>
                <a:cs typeface="Arial" panose="020B0604020202020204" pitchFamily="34" charset="0"/>
                <a:sym typeface="Aileron"/>
              </a:endParaRPr>
            </a:p>
          </p:txBody>
        </p:sp>
        <p:sp>
          <p:nvSpPr>
            <p:cNvPr id="68" name="TextBox 43"/>
            <p:cNvSpPr txBox="1"/>
            <p:nvPr/>
          </p:nvSpPr>
          <p:spPr>
            <a:xfrm>
              <a:off x="3139699" y="4456866"/>
              <a:ext cx="2272871" cy="260985"/>
            </a:xfrm>
            <a:prstGeom prst="rect">
              <a:avLst/>
            </a:prstGeom>
          </p:spPr>
          <p:txBody>
            <a:bodyPr lIns="0" tIns="0" rIns="0" bIns="0" rtlCol="0" anchor="t">
              <a:spAutoFit/>
            </a:bodyPr>
            <a:lstStyle/>
            <a:p>
              <a:pPr>
                <a:lnSpc>
                  <a:spcPts val="2040"/>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Umamaheshwari Ma’am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p:cNvPicPr>
            <a:picLocks noChangeAspect="1"/>
          </p:cNvPicPr>
          <p:nvPr/>
        </p:nvPicPr>
        <p:blipFill>
          <a:blip r:embed="rId4"/>
          <a:srcRect l="28109" t="6546" r="28551" b="49509"/>
          <a:stretch>
            <a:fillRect/>
          </a:stretch>
        </p:blipFill>
        <p:spPr>
          <a:xfrm>
            <a:off x="447718" y="4346948"/>
            <a:ext cx="375815" cy="381063"/>
          </a:xfrm>
          <a:prstGeom prst="rect">
            <a:avLst/>
          </a:prstGeom>
        </p:spPr>
      </p:pic>
      <p:grpSp>
        <p:nvGrpSpPr>
          <p:cNvPr id="49" name="Group 48"/>
          <p:cNvGrpSpPr/>
          <p:nvPr/>
        </p:nvGrpSpPr>
        <p:grpSpPr>
          <a:xfrm>
            <a:off x="640733" y="769747"/>
            <a:ext cx="3051630" cy="258616"/>
            <a:chOff x="1068621" y="826472"/>
            <a:chExt cx="2166264" cy="183584"/>
          </a:xfrm>
        </p:grpSpPr>
        <p:pic>
          <p:nvPicPr>
            <p:cNvPr id="55" name="Picture 54" descr="A blue and black logo&#10;&#10;AI-generated content may be incorrect."/>
            <p:cNvPicPr>
              <a:picLocks noChangeAspect="1"/>
            </p:cNvPicPr>
            <p:nvPr/>
          </p:nvPicPr>
          <p:blipFill>
            <a:blip r:embed="rId5"/>
            <a:stretch>
              <a:fillRect/>
            </a:stretch>
          </p:blipFill>
          <p:spPr>
            <a:xfrm>
              <a:off x="1068621" y="826472"/>
              <a:ext cx="632879" cy="158848"/>
            </a:xfrm>
            <a:prstGeom prst="rect">
              <a:avLst/>
            </a:prstGeom>
          </p:spPr>
        </p:pic>
        <p:pic>
          <p:nvPicPr>
            <p:cNvPr id="57" name="Picture 56" descr="A close up of a logo&#10;&#10;AI-generated content may be incorrect."/>
            <p:cNvPicPr>
              <a:picLocks noChangeAspect="1"/>
            </p:cNvPicPr>
            <p:nvPr/>
          </p:nvPicPr>
          <p:blipFill>
            <a:blip r:embed="rId6"/>
            <a:stretch>
              <a:fillRect/>
            </a:stretch>
          </p:blipFill>
          <p:spPr>
            <a:xfrm>
              <a:off x="2670437" y="826472"/>
              <a:ext cx="564448" cy="183584"/>
            </a:xfrm>
            <a:prstGeom prst="rect">
              <a:avLst/>
            </a:prstGeom>
          </p:spPr>
        </p:pic>
      </p:grpSp>
      <p:sp>
        <p:nvSpPr>
          <p:cNvPr id="31" name="Shape 7"/>
          <p:cNvSpPr/>
          <p:nvPr/>
        </p:nvSpPr>
        <p:spPr>
          <a:xfrm rot="18195971">
            <a:off x="5802826" y="2309413"/>
            <a:ext cx="2834640" cy="109728"/>
          </a:xfrm>
          <a:prstGeom prst="rect">
            <a:avLst/>
          </a:prstGeom>
          <a:solidFill>
            <a:srgbClr val="4FC3F7"/>
          </a:solidFill>
        </p:spPr>
        <p:txBody>
          <a:bodyPr/>
          <a:lstStyle/>
          <a:p>
            <a:endParaRPr lang="en-IN"/>
          </a:p>
        </p:txBody>
      </p:sp>
      <p:sp>
        <p:nvSpPr>
          <p:cNvPr id="32" name="Shape 8"/>
          <p:cNvSpPr/>
          <p:nvPr/>
        </p:nvSpPr>
        <p:spPr>
          <a:xfrm rot="18195971">
            <a:off x="6146363" y="2413708"/>
            <a:ext cx="2468880" cy="109728"/>
          </a:xfrm>
          <a:prstGeom prst="rect">
            <a:avLst/>
          </a:prstGeom>
          <a:solidFill>
            <a:srgbClr val="4FC3F7"/>
          </a:solidFill>
        </p:spPr>
        <p:txBody>
          <a:bodyPr/>
          <a:lstStyle/>
          <a:p>
            <a:endParaRPr lang="en-IN"/>
          </a:p>
        </p:txBody>
      </p:sp>
      <p:sp>
        <p:nvSpPr>
          <p:cNvPr id="33" name="Shape 9"/>
          <p:cNvSpPr/>
          <p:nvPr/>
        </p:nvSpPr>
        <p:spPr>
          <a:xfrm rot="18195971">
            <a:off x="6482126" y="2528680"/>
            <a:ext cx="2103120" cy="109728"/>
          </a:xfrm>
          <a:prstGeom prst="rect">
            <a:avLst/>
          </a:prstGeom>
          <a:solidFill>
            <a:srgbClr val="4FC3F7"/>
          </a:solidFill>
        </p:spPr>
        <p:txBody>
          <a:bodyPr/>
          <a:lstStyle/>
          <a:p>
            <a:endParaRPr lang="en-IN"/>
          </a:p>
        </p:txBody>
      </p:sp>
      <p:sp>
        <p:nvSpPr>
          <p:cNvPr id="39" name="Shape 9"/>
          <p:cNvSpPr/>
          <p:nvPr/>
        </p:nvSpPr>
        <p:spPr>
          <a:xfrm rot="18195971">
            <a:off x="6735713" y="2647223"/>
            <a:ext cx="1872046" cy="116269"/>
          </a:xfrm>
          <a:prstGeom prst="rect">
            <a:avLst/>
          </a:prstGeom>
          <a:solidFill>
            <a:srgbClr val="4FC3F7"/>
          </a:solidFill>
        </p:spPr>
        <p:txBody>
          <a:bodyPr/>
          <a:lstStyle/>
          <a:p>
            <a:endParaRPr lang="en-IN"/>
          </a:p>
        </p:txBody>
      </p:sp>
      <p:pic>
        <p:nvPicPr>
          <p:cNvPr id="46" name="Picture 45"/>
          <p:cNvPicPr>
            <a:picLocks noChangeAspect="1"/>
          </p:cNvPicPr>
          <p:nvPr/>
        </p:nvPicPr>
        <p:blipFill>
          <a:blip r:embed="rId7"/>
          <a:srcRect b="19729"/>
          <a:stretch>
            <a:fillRect/>
          </a:stretch>
        </p:blipFill>
        <p:spPr>
          <a:xfrm>
            <a:off x="173990" y="1046480"/>
            <a:ext cx="3044825" cy="1461770"/>
          </a:xfrm>
          <a:prstGeom prst="rect">
            <a:avLst/>
          </a:prstGeom>
        </p:spPr>
      </p:pic>
      <p:sp>
        <p:nvSpPr>
          <p:cNvPr id="27" name="Rectangles 26"/>
          <p:cNvSpPr/>
          <p:nvPr/>
        </p:nvSpPr>
        <p:spPr>
          <a:xfrm>
            <a:off x="1812290" y="1972310"/>
            <a:ext cx="3957320" cy="506095"/>
          </a:xfrm>
          <a:prstGeom prst="rect">
            <a:avLst/>
          </a:prstGeom>
          <a:noFill/>
          <a:ln>
            <a:noFill/>
          </a:ln>
        </p:spPr>
        <p:txBody>
          <a:bodyPr wrap="none" rtlCol="0" anchor="t">
            <a:noAutofit/>
          </a:bodyPr>
          <a:p>
            <a:pPr algn="ctr"/>
            <a:r>
              <a:rPr lang="en-GB" altLang="en-US" sz="7200" b="1">
                <a:solidFill>
                  <a:schemeClr val="accent1"/>
                </a:solidFill>
                <a:effectLst>
                  <a:outerShdw blurRad="38100" dist="25400" dir="5400000" algn="ctr" rotWithShape="0">
                    <a:srgbClr val="6E747A">
                      <a:alpha val="43000"/>
                    </a:srgbClr>
                  </a:outerShdw>
                </a:effectLst>
              </a:rPr>
              <a:t> </a:t>
            </a:r>
            <a:endParaRPr lang="en-GB" altLang="en-US" sz="7200" b="1">
              <a:solidFill>
                <a:schemeClr val="accent1"/>
              </a:solidFill>
              <a:effectLst>
                <a:outerShdw blurRad="38100" dist="25400" dir="5400000" algn="ctr" rotWithShape="0">
                  <a:srgbClr val="6E747A">
                    <a:alpha val="43000"/>
                  </a:srgbClr>
                </a:outerShdw>
              </a:effectLst>
            </a:endParaRPr>
          </a:p>
        </p:txBody>
      </p:sp>
      <p:sp>
        <p:nvSpPr>
          <p:cNvPr id="38" name="Text Box 37"/>
          <p:cNvSpPr txBox="1"/>
          <p:nvPr/>
        </p:nvSpPr>
        <p:spPr>
          <a:xfrm>
            <a:off x="173990" y="2524760"/>
            <a:ext cx="5080635" cy="575310"/>
          </a:xfrm>
          <a:prstGeom prst="rect">
            <a:avLst/>
          </a:prstGeom>
        </p:spPr>
        <p:style>
          <a:lnRef idx="0">
            <a:srgbClr val="FFFFFF"/>
          </a:lnRef>
          <a:fillRef idx="1">
            <a:schemeClr val="accent1"/>
          </a:fillRef>
          <a:effectRef idx="0">
            <a:srgbClr val="FFFFFF"/>
          </a:effectRef>
          <a:fontRef idx="minor">
            <a:schemeClr val="lt1"/>
          </a:fontRef>
        </p:style>
        <p:txBody>
          <a:bodyPr wrap="square" rtlCol="0">
            <a:noAutofit/>
          </a:bodyPr>
          <a:p>
            <a:r>
              <a:rPr lang="en-US" altLang="en-GB"/>
              <a:t>Enhancing Healthcare Performance Through Data Driven Insights </a:t>
            </a:r>
            <a:endParaRPr lang="en-US" altLang="en-GB"/>
          </a:p>
        </p:txBody>
      </p:sp>
    </p:spTree>
    <p:custDataLst>
      <p:tags r:id="rId8"/>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endParaRPr lang="en-IN"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endParaRPr lang="en-US" sz="1800" dirty="0">
              <a:latin typeface="Lato" panose="020F0502020204030203" pitchFamily="34" charset="0"/>
              <a:ea typeface="+mn-lt"/>
              <a:cs typeface="Arial" panose="020B0604020202020204" pitchFamily="34" charset="0"/>
            </a:endParaRPr>
          </a:p>
        </p:txBody>
      </p:sp>
      <p:pic>
        <p:nvPicPr>
          <p:cNvPr id="25" name="Picture 24" descr="A screen shot of a computer&#10;&#10;AI-generated content may be incorrect."/>
          <p:cNvPicPr>
            <a:picLocks noChangeAspect="1"/>
          </p:cNvPicPr>
          <p:nvPr/>
        </p:nvPicPr>
        <p:blipFill>
          <a:blip r:embed="rId1">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p:cNvSpPr txBox="1"/>
          <p:nvPr/>
        </p:nvSpPr>
        <p:spPr>
          <a:xfrm>
            <a:off x="125240" y="1082801"/>
            <a:ext cx="5002346" cy="389763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This project focuses on enhancing healthcare performance through data driven insights using powerBI excel and AI tools such as microsoft copilot. The objective is to analyse patient data and identify operational inefficiencies and resource utilisation patterns</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The project involves collecting, cleaning and preprocessing the data, performing analysis and visualize healthcare metrics </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By integrating AI-powered tools and business intelligence techniques, the project aim is to transform raw healthcare data into meaningful insights that suports better decision making </a:t>
            </a:r>
            <a:endParaRPr lang="en-US" sz="1800" dirty="0">
              <a:latin typeface="Lato" panose="020F0502020204030203" pitchFamily="34" charset="0"/>
              <a:ea typeface="+mn-lt"/>
              <a:cs typeface="Arial" panose="020B0604020202020204" pitchFamily="34" charset="0"/>
            </a:endParaRPr>
          </a:p>
        </p:txBody>
      </p:sp>
      <p:sp>
        <p:nvSpPr>
          <p:cNvPr id="2" name="Freeform 28"/>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5835015" y="723265"/>
            <a:ext cx="3188970" cy="3683635"/>
          </a:xfrm>
          <a:prstGeom prst="rect">
            <a:avLst/>
          </a:prstGeom>
        </p:spPr>
      </p:pic>
      <p:sp>
        <p:nvSpPr>
          <p:cNvPr id="4" name="Text 2"/>
          <p:cNvSpPr/>
          <p:nvPr/>
        </p:nvSpPr>
        <p:spPr>
          <a:xfrm>
            <a:off x="120623" y="611286"/>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p:cNvSpPr txBox="1"/>
          <p:nvPr/>
        </p:nvSpPr>
        <p:spPr>
          <a:xfrm>
            <a:off x="168910" y="1143000"/>
            <a:ext cx="5357495" cy="3257550"/>
          </a:xfrm>
          <a:prstGeom prst="rect">
            <a:avLst/>
          </a:prstGeom>
        </p:spPr>
        <p:style>
          <a:lnRef idx="2">
            <a:schemeClr val="accent1"/>
          </a:lnRef>
          <a:fillRef idx="0">
            <a:srgbClr val="FFFFFF"/>
          </a:fillRef>
          <a:effectRef idx="0">
            <a:srgbClr val="FFFFFF"/>
          </a:effectRef>
          <a:fontRef idx="minor">
            <a:schemeClr val="tx1"/>
          </a:fontRef>
        </p:style>
        <p:txBody>
          <a:bodyPr wrap="square">
            <a:noAutofit/>
          </a:bodyPr>
          <a:lstStyle/>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Healthcare institutions generate large amounts of patient and operational data everyday. However inconsistent incomplete  and unreliable data oftencreats challenges in understanding patient needs hospital performance and resource utilisation</a:t>
            </a:r>
            <a:endParaRPr lang="en-US" dirty="0">
              <a:latin typeface="Lato" panose="020F0502020204030203" pitchFamily="34" charset="0"/>
              <a:ea typeface="+mn-lt"/>
              <a:cs typeface="Arial" panose="020B0604020202020204" pitchFamily="34" charset="0"/>
            </a:endParaRPr>
          </a:p>
          <a:p>
            <a:pPr indent="0">
              <a:spcAft>
                <a:spcPts val="800"/>
              </a:spcAft>
              <a:buFont typeface="Arial" panose="020B0604020202020204" pitchFamily="34" charset="0"/>
              <a:buNone/>
              <a:tabLst>
                <a:tab pos="4229100" algn="ctr"/>
              </a:tabLst>
            </a:pPr>
            <a:endParaRPr lang="en-US" dirty="0">
              <a:latin typeface="Lato" panose="020F0502020204030203" pitchFamily="34" charset="0"/>
              <a:ea typeface="+mn-lt"/>
              <a:cs typeface="Arial" panose="020B0604020202020204" pitchFamily="34" charset="0"/>
            </a:endParaRP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without proper data analysis decision makers face difficulties in managing patient flow optimising resource. existing systems often fail to provide actionable insighta in a clear and efficient manner </a:t>
            </a:r>
            <a:endParaRPr lang="en-US" dirty="0">
              <a:latin typeface="Lato" panose="020F0502020204030203" pitchFamily="34" charset="0"/>
              <a:ea typeface="+mn-lt"/>
              <a:cs typeface="Arial" panose="020B0604020202020204" pitchFamily="34" charset="0"/>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5459730" y="850900"/>
            <a:ext cx="3510280" cy="3720465"/>
          </a:xfrm>
          <a:prstGeom prst="rect">
            <a:avLst/>
          </a:prstGeom>
        </p:spPr>
      </p:pic>
      <p:sp>
        <p:nvSpPr>
          <p:cNvPr id="4" name="Text 2"/>
          <p:cNvSpPr/>
          <p:nvPr/>
        </p:nvSpPr>
        <p:spPr>
          <a:xfrm>
            <a:off x="206131" y="411825"/>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p:spPr>
        <p:txBody>
          <a:bodyPr wrap="square" rtlCol="0" anchor="ctr"/>
          <a:lstStyle/>
          <a:p>
            <a:pPr marL="0" indent="0" algn="ctr">
              <a:buNone/>
            </a:pPr>
            <a:endParaRPr lang="en-US" sz="8000" dirty="0"/>
          </a:p>
        </p:txBody>
      </p:sp>
      <p:sp>
        <p:nvSpPr>
          <p:cNvPr id="5" name="Text 12"/>
          <p:cNvSpPr/>
          <p:nvPr/>
        </p:nvSpPr>
        <p:spPr>
          <a:xfrm>
            <a:off x="125730" y="1045845"/>
            <a:ext cx="5327650" cy="3701415"/>
          </a:xfrm>
          <a:prstGeom prst="rect">
            <a:avLst/>
          </a:prstGeom>
          <a:noFill/>
        </p:spPr>
        <p:txBody>
          <a:bodyPr wrap="square" rtlCol="0" anchor="t"/>
          <a:lstStyle/>
          <a:p>
            <a:pPr marL="0" indent="0">
              <a:buNone/>
            </a:pPr>
            <a:r>
              <a:rPr lang="en-US" dirty="0">
                <a:solidFill>
                  <a:srgbClr val="1A1A2E"/>
                </a:solidFill>
                <a:latin typeface="Lato" panose="020F0502020204030203" pitchFamily="34" charset="0"/>
                <a:ea typeface="Calibri" panose="020F0502020204030204" pitchFamily="34" charset="-122"/>
                <a:cs typeface="Arial" panose="020B0604020202020204" pitchFamily="34" charset="0"/>
              </a:rPr>
              <a:t>.</a:t>
            </a:r>
            <a:endParaRPr lang="en-US" dirty="0">
              <a:latin typeface="Lato" panose="020F0502020204030203" pitchFamily="34" charset="0"/>
              <a:cs typeface="Arial" panose="020B0604020202020204" pitchFamily="34" charset="0"/>
            </a:endParaRPr>
          </a:p>
        </p:txBody>
      </p:sp>
      <p:sp>
        <p:nvSpPr>
          <p:cNvPr id="2" name="Text Box 1"/>
          <p:cNvSpPr txBox="1"/>
          <p:nvPr/>
        </p:nvSpPr>
        <p:spPr>
          <a:xfrm>
            <a:off x="0" y="787400"/>
            <a:ext cx="5313680" cy="1210310"/>
          </a:xfrm>
          <a:prstGeom prst="rect">
            <a:avLst/>
          </a:prstGeom>
          <a:noFill/>
        </p:spPr>
        <p:txBody>
          <a:bodyPr wrap="square" rtlCol="0">
            <a:noAutofit/>
          </a:bodyPr>
          <a:p>
            <a:pPr marL="285750" indent="-285750">
              <a:buFont typeface="Arial" panose="020B0604020202020204" pitchFamily="34" charset="0"/>
              <a:buChar char="•"/>
            </a:pPr>
            <a:r>
              <a:rPr lang="en-US" altLang="en-GB"/>
              <a:t>The proposed solution is to build an interactive healthcare analytics dashboard using Power BI and Excel integrated with AI tools such as Microsoft Copilot.</a:t>
            </a:r>
            <a:endParaRPr lang="en-US" altLang="en-GB"/>
          </a:p>
          <a:p>
            <a:pPr marL="285750" indent="-285750">
              <a:buFont typeface="Arial" panose="020B0604020202020204" pitchFamily="34" charset="0"/>
              <a:buChar char="•"/>
            </a:pPr>
            <a:r>
              <a:rPr lang="en-US" altLang="en-GB"/>
              <a:t>The project involves collecting hospital patient datasets from open sources, cleaning and preprocessing the data, and applying analytical techniques to uncover trends and inefficiencies in healthcare operations.</a:t>
            </a:r>
            <a:endParaRPr lang="en-US" altLang="en-GB"/>
          </a:p>
          <a:p>
            <a:pPr marL="285750" indent="-285750">
              <a:buFont typeface="Arial" panose="020B0604020202020204" pitchFamily="34" charset="0"/>
              <a:buChar char="•"/>
            </a:pPr>
            <a:r>
              <a:rPr lang="en-US" altLang="en-GB"/>
              <a:t>The dashboard will display key healthcare metrics such as patient demographics, disease patterns, admission statistics, and operational performance indicators. AI tools will assist in generating summaries, insights, and documentation to improve analysis efficiency.</a:t>
            </a:r>
            <a:endParaRPr lang="en-US" altLang="en-GB"/>
          </a:p>
          <a:p>
            <a:pPr marL="285750" indent="-285750">
              <a:buFont typeface="Arial" panose="020B0604020202020204" pitchFamily="34" charset="0"/>
              <a:buChar char="•"/>
            </a:pPr>
            <a:endParaRPr lang="en-US" altLang="en-GB"/>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2880" y="530530"/>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custDataLst>
              <p:tags r:id="rId1"/>
            </p:custDataLst>
          </p:nvPr>
        </p:nvSpPr>
        <p:spPr>
          <a:xfrm>
            <a:off x="129998" y="970785"/>
            <a:ext cx="4114800" cy="384048"/>
          </a:xfrm>
          <a:prstGeom prst="rect">
            <a:avLst/>
          </a:prstGeom>
          <a:solidFill>
            <a:schemeClr val="accent1">
              <a:lumMod val="20000"/>
              <a:lumOff val="80000"/>
            </a:schemeClr>
          </a:solidFill>
        </p:spPr>
        <p:txBody>
          <a:bodyPr/>
          <a:lstStyle/>
          <a:p>
            <a:endParaRPr lang="en-IN">
              <a:latin typeface="Lato" panose="020F0502020204030203" pitchFamily="34" charset="0"/>
            </a:endParaRPr>
          </a:p>
        </p:txBody>
      </p:sp>
      <p:sp>
        <p:nvSpPr>
          <p:cNvPr id="7" name="Shape 5"/>
          <p:cNvSpPr/>
          <p:nvPr>
            <p:custDataLst>
              <p:tags r:id="rId2"/>
            </p:custDataLst>
          </p:nvPr>
        </p:nvSpPr>
        <p:spPr>
          <a:xfrm>
            <a:off x="4157168" y="970785"/>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8" name="Text 6"/>
          <p:cNvSpPr/>
          <p:nvPr>
            <p:custDataLst>
              <p:tags r:id="rId3"/>
            </p:custDataLst>
          </p:nvPr>
        </p:nvSpPr>
        <p:spPr>
          <a:xfrm>
            <a:off x="316688" y="971166"/>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anose="020F0502020204030204"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custDataLst>
              <p:tags r:id="rId4"/>
            </p:custDataLst>
          </p:nvPr>
        </p:nvSpPr>
        <p:spPr>
          <a:xfrm>
            <a:off x="326848" y="1700400"/>
            <a:ext cx="4023360" cy="1188720"/>
          </a:xfrm>
          <a:prstGeom prst="rect">
            <a:avLst/>
          </a:prstGeom>
          <a:noFill/>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custDataLst>
              <p:tags r:id="rId5"/>
            </p:custDataLst>
          </p:nvPr>
        </p:nvSpPr>
        <p:spPr>
          <a:xfrm>
            <a:off x="4670248" y="968880"/>
            <a:ext cx="4114800" cy="384048"/>
          </a:xfrm>
          <a:prstGeom prst="rect">
            <a:avLst/>
          </a:prstGeom>
          <a:solidFill>
            <a:schemeClr val="accent1">
              <a:lumMod val="20000"/>
              <a:lumOff val="80000"/>
            </a:schemeClr>
          </a:solidFill>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custDataLst>
              <p:tags r:id="rId6"/>
            </p:custDataLst>
          </p:nvPr>
        </p:nvSpPr>
        <p:spPr>
          <a:xfrm>
            <a:off x="8602168" y="968880"/>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12" name="Text 10"/>
          <p:cNvSpPr/>
          <p:nvPr>
            <p:custDataLst>
              <p:tags r:id="rId7"/>
            </p:custDataLst>
          </p:nvPr>
        </p:nvSpPr>
        <p:spPr>
          <a:xfrm>
            <a:off x="4853128" y="969261"/>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anose="020F0502020204030204"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custDataLst>
              <p:tags r:id="rId8"/>
            </p:custDataLst>
          </p:nvPr>
        </p:nvSpPr>
        <p:spPr>
          <a:xfrm>
            <a:off x="4572000" y="1494790"/>
            <a:ext cx="4373245" cy="1645285"/>
          </a:xfrm>
          <a:prstGeom prst="rect">
            <a:avLst/>
          </a:prstGeom>
          <a:noFill/>
        </p:spPr>
        <p:txBody>
          <a:bodyPr wrap="square" rtlCol="0" anchor="t"/>
          <a:lstStyle/>
          <a:p>
            <a:pPr marL="285750" indent="-285750">
              <a:buFont typeface="Arial" panose="020B0604020202020204" pitchFamily="34" charset="0"/>
              <a:buChar char="•"/>
            </a:pPr>
            <a:r>
              <a:rPr lang="en-US" sz="1600" dirty="0">
                <a:latin typeface="Lato" panose="020F0502020204030203" pitchFamily="34" charset="0"/>
                <a:cs typeface="Arial" panose="020B0604020202020204" pitchFamily="34" charset="0"/>
              </a:rPr>
              <a:t>Data cleaning and processing using excel </a:t>
            </a:r>
            <a:endParaRPr lang="en-US" sz="1600" dirty="0">
              <a:latin typeface="Lato" panose="020F0502020204030203" pitchFamily="34" charset="0"/>
              <a:cs typeface="Arial" panose="020B0604020202020204" pitchFamily="34" charset="0"/>
            </a:endParaRPr>
          </a:p>
          <a:p>
            <a:pPr marL="285750" indent="-285750">
              <a:buFont typeface="Arial" panose="020B0604020202020204" pitchFamily="34" charset="0"/>
              <a:buChar char="•"/>
            </a:pPr>
            <a:r>
              <a:rPr lang="en-US" sz="1600" dirty="0">
                <a:latin typeface="Lato" panose="020F0502020204030203" pitchFamily="34" charset="0"/>
                <a:cs typeface="Arial" panose="020B0604020202020204" pitchFamily="34" charset="0"/>
              </a:rPr>
              <a:t>Removal of duplicate record and handling missing values</a:t>
            </a:r>
            <a:endParaRPr lang="en-US" sz="1600" dirty="0">
              <a:latin typeface="Lato" panose="020F0502020204030203" pitchFamily="34" charset="0"/>
              <a:cs typeface="Arial" panose="020B0604020202020204" pitchFamily="34" charset="0"/>
            </a:endParaRPr>
          </a:p>
          <a:p>
            <a:pPr marL="285750" indent="-285750">
              <a:buFont typeface="Arial" panose="020B0604020202020204" pitchFamily="34" charset="0"/>
              <a:buChar char="•"/>
            </a:pPr>
            <a:r>
              <a:rPr lang="en-US" sz="1600" dirty="0">
                <a:latin typeface="Lato" panose="020F0502020204030203" pitchFamily="34" charset="0"/>
                <a:cs typeface="Arial" panose="020B0604020202020204" pitchFamily="34" charset="0"/>
              </a:rPr>
              <a:t>Analysis performed using excel formulas and Power BI measures</a:t>
            </a:r>
            <a:endParaRPr lang="en-US" sz="1600" dirty="0">
              <a:latin typeface="Lato" panose="020F0502020204030203" pitchFamily="34" charset="0"/>
              <a:cs typeface="Arial" panose="020B0604020202020204" pitchFamily="34" charset="0"/>
            </a:endParaRPr>
          </a:p>
        </p:txBody>
      </p:sp>
      <p:sp>
        <p:nvSpPr>
          <p:cNvPr id="14" name="Shape 12"/>
          <p:cNvSpPr/>
          <p:nvPr>
            <p:custDataLst>
              <p:tags r:id="rId9"/>
            </p:custDataLst>
          </p:nvPr>
        </p:nvSpPr>
        <p:spPr>
          <a:xfrm>
            <a:off x="52528" y="3163531"/>
            <a:ext cx="4114800" cy="384048"/>
          </a:xfrm>
          <a:prstGeom prst="rect">
            <a:avLst/>
          </a:prstGeom>
          <a:solidFill>
            <a:schemeClr val="accent1">
              <a:lumMod val="20000"/>
              <a:lumOff val="80000"/>
            </a:schemeClr>
          </a:solidFill>
        </p:spPr>
        <p:txBody>
          <a:bodyPr/>
          <a:lstStyle/>
          <a:p>
            <a:endParaRPr lang="en-IN">
              <a:latin typeface="Lato" panose="020F0502020204030203" pitchFamily="34" charset="0"/>
            </a:endParaRPr>
          </a:p>
        </p:txBody>
      </p:sp>
      <p:sp>
        <p:nvSpPr>
          <p:cNvPr id="15" name="Shape 13"/>
          <p:cNvSpPr/>
          <p:nvPr>
            <p:custDataLst>
              <p:tags r:id="rId10"/>
            </p:custDataLst>
          </p:nvPr>
        </p:nvSpPr>
        <p:spPr>
          <a:xfrm>
            <a:off x="4167328" y="3163531"/>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16" name="Text 14"/>
          <p:cNvSpPr/>
          <p:nvPr>
            <p:custDataLst>
              <p:tags r:id="rId11"/>
            </p:custDataLst>
          </p:nvPr>
        </p:nvSpPr>
        <p:spPr>
          <a:xfrm>
            <a:off x="326848" y="3163277"/>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anose="020F0502020204030204"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custDataLst>
              <p:tags r:id="rId12"/>
            </p:custDataLst>
          </p:nvPr>
        </p:nvSpPr>
        <p:spPr>
          <a:xfrm>
            <a:off x="326848" y="3581361"/>
            <a:ext cx="4023360" cy="1188720"/>
          </a:xfrm>
          <a:prstGeom prst="rect">
            <a:avLst/>
          </a:prstGeom>
          <a:noFill/>
        </p:spPr>
        <p:txBody>
          <a:bodyPr wrap="square" rtlCol="0" anchor="t"/>
          <a:lstStyle/>
          <a:p>
            <a:pPr marL="285750" indent="-285750">
              <a:buFont typeface="Arial" panose="020B0604020202020204" pitchFamily="34" charset="0"/>
              <a:buChar char="•"/>
            </a:pPr>
            <a:r>
              <a:rPr lang="en-US" sz="1600" dirty="0">
                <a:latin typeface="Lato" panose="020F0502020204030203" pitchFamily="34" charset="0"/>
                <a:cs typeface="Arial" panose="020B0604020202020204" pitchFamily="34" charset="0"/>
              </a:rPr>
              <a:t>Integration of Microsoft Copilot and Power BI for interactive visualisation</a:t>
            </a:r>
            <a:endParaRPr lang="en-US" sz="1600" dirty="0">
              <a:latin typeface="Lato" panose="020F0502020204030203" pitchFamily="34" charset="0"/>
              <a:cs typeface="Arial" panose="020B0604020202020204" pitchFamily="34" charset="0"/>
            </a:endParaRPr>
          </a:p>
        </p:txBody>
      </p:sp>
      <p:sp>
        <p:nvSpPr>
          <p:cNvPr id="18" name="Shape 16"/>
          <p:cNvSpPr/>
          <p:nvPr>
            <p:custDataLst>
              <p:tags r:id="rId13"/>
            </p:custDataLst>
          </p:nvPr>
        </p:nvSpPr>
        <p:spPr>
          <a:xfrm>
            <a:off x="4761688" y="3180676"/>
            <a:ext cx="4114800" cy="384048"/>
          </a:xfrm>
          <a:prstGeom prst="rect">
            <a:avLst/>
          </a:prstGeom>
          <a:solidFill>
            <a:schemeClr val="accent1">
              <a:lumMod val="20000"/>
              <a:lumOff val="80000"/>
            </a:schemeClr>
          </a:solidFill>
        </p:spPr>
        <p:txBody>
          <a:bodyPr/>
          <a:lstStyle/>
          <a:p>
            <a:endParaRPr lang="en-US" dirty="0">
              <a:solidFill>
                <a:srgbClr val="1A1A2E"/>
              </a:solidFill>
              <a:latin typeface="Lato" panose="020F0502020204030203" pitchFamily="34" charset="0"/>
              <a:ea typeface="Calibri" panose="020F0502020204030204" pitchFamily="34" charset="-122"/>
              <a:cs typeface="Arial" panose="020B0604020202020204" pitchFamily="34" charset="0"/>
              <a:sym typeface="+mn-ea"/>
            </a:endParaRPr>
          </a:p>
        </p:txBody>
      </p:sp>
      <p:sp>
        <p:nvSpPr>
          <p:cNvPr id="19" name="Shape 17"/>
          <p:cNvSpPr/>
          <p:nvPr>
            <p:custDataLst>
              <p:tags r:id="rId14"/>
            </p:custDataLst>
          </p:nvPr>
        </p:nvSpPr>
        <p:spPr>
          <a:xfrm>
            <a:off x="8602168" y="3163531"/>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20" name="Text 18"/>
          <p:cNvSpPr/>
          <p:nvPr>
            <p:custDataLst>
              <p:tags r:id="rId15"/>
            </p:custDataLst>
          </p:nvPr>
        </p:nvSpPr>
        <p:spPr>
          <a:xfrm>
            <a:off x="4853128" y="3254082"/>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anose="020F0502020204030204"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custDataLst>
              <p:tags r:id="rId16"/>
            </p:custDataLst>
          </p:nvPr>
        </p:nvSpPr>
        <p:spPr>
          <a:xfrm>
            <a:off x="4761865" y="3665220"/>
            <a:ext cx="4023360" cy="1082040"/>
          </a:xfrm>
          <a:prstGeom prst="rect">
            <a:avLst/>
          </a:prstGeom>
          <a:noFill/>
        </p:spPr>
        <p:txBody>
          <a:bodyPr wrap="square" rtlCol="0" anchor="t"/>
          <a:lstStyle/>
          <a:p>
            <a:pPr marL="285750" indent="-285750">
              <a:buFont typeface="Arial" panose="020B0604020202020204" pitchFamily="34" charset="0"/>
              <a:buChar char="•"/>
            </a:pPr>
            <a:r>
              <a:rPr lang="en-US" sz="1600" dirty="0">
                <a:solidFill>
                  <a:srgbClr val="1A1A2E"/>
                </a:solidFill>
                <a:latin typeface="Lato" panose="020F0502020204030203" pitchFamily="34" charset="0"/>
                <a:ea typeface="Calibri" panose="020F0502020204030204" pitchFamily="34" charset="-122"/>
                <a:cs typeface="Arial" panose="020B0604020202020204" pitchFamily="34" charset="0"/>
                <a:sym typeface="+mn-ea"/>
              </a:rPr>
              <a:t>Interactive healthcare dashboard displaying KPI’s and charts </a:t>
            </a:r>
            <a:endParaRPr lang="en-US" sz="1600" dirty="0">
              <a:solidFill>
                <a:srgbClr val="1A1A2E"/>
              </a:solidFill>
              <a:latin typeface="Lato" panose="020F0502020204030203" pitchFamily="34" charset="0"/>
              <a:ea typeface="Calibri" panose="020F0502020204030204" pitchFamily="34" charset="-122"/>
              <a:cs typeface="Arial" panose="020B0604020202020204" pitchFamily="34" charset="0"/>
              <a:sym typeface="+mn-ea"/>
            </a:endParaRPr>
          </a:p>
          <a:p>
            <a:pPr marL="285750" indent="-285750">
              <a:buFont typeface="Arial" panose="020B0604020202020204" pitchFamily="34" charset="0"/>
              <a:buChar char="•"/>
            </a:pPr>
            <a:r>
              <a:rPr lang="en-US" sz="1600" dirty="0">
                <a:solidFill>
                  <a:srgbClr val="1A1A2E"/>
                </a:solidFill>
                <a:latin typeface="Lato" panose="020F0502020204030203" pitchFamily="34" charset="0"/>
                <a:ea typeface="Calibri" panose="020F0502020204030204" pitchFamily="34" charset="-122"/>
                <a:cs typeface="Arial" panose="020B0604020202020204" pitchFamily="34" charset="0"/>
                <a:sym typeface="+mn-ea"/>
              </a:rPr>
              <a:t>Visualisation of patient trends, hospital admission and healthcare performance metrics </a:t>
            </a:r>
            <a:endParaRPr lang="en-US" sz="1600" dirty="0">
              <a:solidFill>
                <a:srgbClr val="1A1A2E"/>
              </a:solidFill>
              <a:latin typeface="Lato" panose="020F0502020204030203" pitchFamily="34" charset="0"/>
              <a:ea typeface="Calibri" panose="020F0502020204030204" pitchFamily="34" charset="-122"/>
              <a:cs typeface="Arial" panose="020B0604020202020204" pitchFamily="34" charset="0"/>
              <a:sym typeface="+mn-ea"/>
            </a:endParaRPr>
          </a:p>
          <a:p>
            <a:pPr marL="285750" indent="-285750">
              <a:buFont typeface="Arial" panose="020B0604020202020204" pitchFamily="34" charset="0"/>
              <a:buChar char="•"/>
            </a:pPr>
            <a:endParaRPr lang="en-US" sz="1600" dirty="0">
              <a:solidFill>
                <a:srgbClr val="1A1A2E"/>
              </a:solidFill>
              <a:latin typeface="Lato" panose="020F0502020204030203" pitchFamily="34" charset="0"/>
              <a:ea typeface="Calibri" panose="020F0502020204030204" pitchFamily="34" charset="-122"/>
              <a:cs typeface="Arial" panose="020B0604020202020204" pitchFamily="34" charset="0"/>
              <a:sym typeface="+mn-ea"/>
            </a:endParaRPr>
          </a:p>
          <a:p>
            <a:pPr marL="0" indent="0">
              <a:buNone/>
            </a:pPr>
            <a:endParaRPr lang="en-US" sz="1600" dirty="0">
              <a:solidFill>
                <a:srgbClr val="1A1A2E"/>
              </a:solidFill>
              <a:latin typeface="Lato" panose="020F0502020204030203" pitchFamily="34" charset="0"/>
              <a:ea typeface="Calibri" panose="020F0502020204030204" pitchFamily="34" charset="-122"/>
              <a:cs typeface="Arial" panose="020B0604020202020204" pitchFamily="34" charset="0"/>
              <a:sym typeface="+mn-ea"/>
            </a:endParaRPr>
          </a:p>
        </p:txBody>
      </p:sp>
      <p:sp>
        <p:nvSpPr>
          <p:cNvPr id="3" name="Text Box 2"/>
          <p:cNvSpPr txBox="1"/>
          <p:nvPr/>
        </p:nvSpPr>
        <p:spPr>
          <a:xfrm>
            <a:off x="327025" y="1678305"/>
            <a:ext cx="3830320" cy="1194435"/>
          </a:xfrm>
          <a:prstGeom prst="rect">
            <a:avLst/>
          </a:prstGeom>
          <a:noFill/>
        </p:spPr>
        <p:txBody>
          <a:bodyPr wrap="square" rtlCol="0">
            <a:noAutofit/>
          </a:bodyPr>
          <a:p>
            <a:endParaRPr lang="en-GB" altLang="en-US"/>
          </a:p>
        </p:txBody>
      </p:sp>
      <p:sp>
        <p:nvSpPr>
          <p:cNvPr id="24" name="Text Box 23"/>
          <p:cNvSpPr txBox="1"/>
          <p:nvPr/>
        </p:nvSpPr>
        <p:spPr>
          <a:xfrm>
            <a:off x="174625" y="1529080"/>
            <a:ext cx="4338320" cy="1332865"/>
          </a:xfrm>
          <a:prstGeom prst="rect">
            <a:avLst/>
          </a:prstGeom>
          <a:noFill/>
        </p:spPr>
        <p:txBody>
          <a:bodyPr wrap="square" rtlCol="0">
            <a:noAutofit/>
          </a:bodyPr>
          <a:p>
            <a:pPr marL="285750" indent="-285750">
              <a:buFont typeface="Arial" panose="020B0604020202020204" pitchFamily="34" charset="0"/>
              <a:buChar char="•"/>
            </a:pPr>
            <a:r>
              <a:rPr lang="en-US" altLang="en-GB"/>
              <a:t>Hospital patient dataset collected from kaggle </a:t>
            </a:r>
            <a:endParaRPr lang="en-US" altLang="en-GB"/>
          </a:p>
          <a:p>
            <a:pPr marL="285750" indent="-285750">
              <a:buFont typeface="Arial" panose="020B0604020202020204" pitchFamily="34" charset="0"/>
              <a:buChar char="•"/>
            </a:pPr>
            <a:r>
              <a:rPr lang="en-US" altLang="en-GB"/>
              <a:t>Data include patient demographics medical condition admission and treatment</a:t>
            </a:r>
            <a:endParaRPr lang="en-US" altLang="en-GB"/>
          </a:p>
        </p:txBody>
      </p:sp>
    </p:spTree>
    <p:custDataLst>
      <p:tags r:id="rId17"/>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p:spPr>
        <p:txBody>
          <a:bodyPr wrap="square" rtlCol="0" anchor="ctr"/>
          <a:lstStyle/>
          <a:p>
            <a:pPr marL="0" indent="0">
              <a:buNone/>
            </a:pPr>
            <a:r>
              <a:rPr lang="en-US" dirty="0">
                <a:latin typeface="Lato" panose="020F0502020204030203" pitchFamily="34" charset="0"/>
                <a:ea typeface="Calibri" panose="020F0502020204030204"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p:spPr>
        <p:txBody>
          <a:bodyPr wrap="square" rtlCol="0" anchor="ctr"/>
          <a:lstStyle/>
          <a:p>
            <a:pPr marL="0" indent="0" algn="ctr">
              <a:buNone/>
            </a:pPr>
            <a:r>
              <a:rPr lang="en-US" sz="1600" b="1" dirty="0">
                <a:latin typeface="Lato" panose="020F0502020204030203" pitchFamily="34" charset="0"/>
                <a:ea typeface="Calibri" panose="020F0502020204030204"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p:spPr>
        <p:txBody>
          <a:bodyPr wrap="square" rtlCol="0" anchor="ctr"/>
          <a:lstStyle/>
          <a:p>
            <a:pPr marL="0" indent="0" algn="ctr">
              <a:buNone/>
            </a:pPr>
            <a:r>
              <a:rPr lang="en-US" sz="1600" dirty="0">
                <a:latin typeface="Lato" panose="020F0502020204030203" pitchFamily="34" charset="0"/>
                <a:ea typeface="Calibri" panose="020F0502020204030204" pitchFamily="34" charset="-122"/>
                <a:cs typeface="Arial" panose="020B0604020202020204" pitchFamily="34" charset="0"/>
              </a:rPr>
              <a:t>[Add description of Demo 1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p:spPr>
        <p:txBody>
          <a:bodyPr wrap="square" rtlCol="0" anchor="ctr"/>
          <a:lstStyle/>
          <a:p>
            <a:pPr marL="0" indent="0" algn="ctr">
              <a:buNone/>
            </a:pPr>
            <a:r>
              <a:rPr lang="en-US" sz="1600" b="1" dirty="0">
                <a:latin typeface="Lato" panose="020F0502020204030203" pitchFamily="34" charset="0"/>
                <a:ea typeface="Calibri" panose="020F0502020204030204"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p:spPr>
        <p:txBody>
          <a:bodyPr wrap="square" rtlCol="0" anchor="ctr"/>
          <a:lstStyle/>
          <a:p>
            <a:pPr marL="0" indent="0" algn="ctr">
              <a:buNone/>
            </a:pPr>
            <a:r>
              <a:rPr lang="en-US" sz="1600" dirty="0">
                <a:latin typeface="Lato" panose="020F0502020204030203" pitchFamily="34" charset="0"/>
                <a:ea typeface="Calibri" panose="020F0502020204030204" pitchFamily="34" charset="-122"/>
                <a:cs typeface="Arial" panose="020B0604020202020204" pitchFamily="34" charset="0"/>
              </a:rPr>
              <a:t>[Add description of Demo 2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p:spPr>
        <p:txBody>
          <a:bodyPr wrap="square" rtlCol="0" anchor="ctr"/>
          <a:lstStyle/>
          <a:p>
            <a:pPr marL="0" indent="0" algn="ctr">
              <a:buNone/>
            </a:pPr>
            <a:r>
              <a:rPr lang="en-US" sz="1600" b="1" dirty="0">
                <a:latin typeface="Lato" panose="020F0502020204030203" pitchFamily="34" charset="0"/>
                <a:ea typeface="Calibri" panose="020F0502020204030204"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p:spPr>
        <p:txBody>
          <a:bodyPr wrap="square" rtlCol="0" anchor="ctr"/>
          <a:lstStyle/>
          <a:p>
            <a:pPr marL="0" indent="0" algn="ctr">
              <a:buNone/>
            </a:pPr>
            <a:r>
              <a:rPr lang="en-US" sz="1600" dirty="0">
                <a:latin typeface="Lato" panose="020F0502020204030203" pitchFamily="34" charset="0"/>
                <a:ea typeface="Calibri" panose="020F0502020204030204" pitchFamily="34" charset="-122"/>
                <a:cs typeface="Arial" panose="020B0604020202020204" pitchFamily="34" charset="0"/>
              </a:rPr>
              <a:t>[Add description of Demo 3 here — what this demo shows, key features, and results achieved.]</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dirty="0">
                <a:solidFill>
                  <a:srgbClr val="1B3A8A"/>
                </a:solidFill>
                <a:latin typeface="Calibri" panose="020F0502020204030204" charset="0"/>
                <a:ea typeface="Calibri" panose="020F0502020204030204" pitchFamily="34" charset="-122"/>
                <a:cs typeface="Calibri" panose="020F0502020204030204"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p:spPr>
        <p:txBody>
          <a:bodyPr/>
          <a:lstStyle/>
          <a:p>
            <a:endParaRPr lang="en-IN"/>
          </a:p>
        </p:txBody>
      </p:sp>
      <p:sp>
        <p:nvSpPr>
          <p:cNvPr id="8" name="Shape 6"/>
          <p:cNvSpPr/>
          <p:nvPr/>
        </p:nvSpPr>
        <p:spPr>
          <a:xfrm>
            <a:off x="502920" y="777240"/>
            <a:ext cx="164592" cy="164592"/>
          </a:xfrm>
          <a:prstGeom prst="ellipse">
            <a:avLst/>
          </a:prstGeom>
          <a:solidFill>
            <a:srgbClr val="FF5F57"/>
          </a:solidFill>
        </p:spPr>
        <p:txBody>
          <a:bodyPr/>
          <a:lstStyle/>
          <a:p>
            <a:endParaRPr lang="en-IN"/>
          </a:p>
        </p:txBody>
      </p:sp>
      <p:sp>
        <p:nvSpPr>
          <p:cNvPr id="9" name="Shape 7"/>
          <p:cNvSpPr/>
          <p:nvPr/>
        </p:nvSpPr>
        <p:spPr>
          <a:xfrm>
            <a:off x="731520" y="777240"/>
            <a:ext cx="164592" cy="164592"/>
          </a:xfrm>
          <a:prstGeom prst="ellipse">
            <a:avLst/>
          </a:prstGeom>
          <a:solidFill>
            <a:srgbClr val="FEBC2E"/>
          </a:solidFill>
        </p:spPr>
        <p:txBody>
          <a:bodyPr/>
          <a:lstStyle/>
          <a:p>
            <a:endParaRPr lang="en-IN"/>
          </a:p>
        </p:txBody>
      </p:sp>
      <p:sp>
        <p:nvSpPr>
          <p:cNvPr id="10" name="Shape 8"/>
          <p:cNvSpPr/>
          <p:nvPr/>
        </p:nvSpPr>
        <p:spPr>
          <a:xfrm>
            <a:off x="960120" y="777240"/>
            <a:ext cx="164592" cy="164592"/>
          </a:xfrm>
          <a:prstGeom prst="ellipse">
            <a:avLst/>
          </a:prstGeom>
          <a:solidFill>
            <a:srgbClr val="28C840"/>
          </a:solidFill>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p:spPr>
        <p:txBody>
          <a:bodyPr wrap="square" rtlCol="0" anchor="ctr"/>
          <a:lstStyle/>
          <a:p>
            <a:pPr marL="0" indent="0">
              <a:buNone/>
            </a:pPr>
            <a:r>
              <a:rPr lang="en-US" sz="900" dirty="0">
                <a:solidFill>
                  <a:srgbClr val="607D8B"/>
                </a:solidFill>
                <a:latin typeface="Calibri" panose="020F0502020204030204" charset="0"/>
                <a:ea typeface="Calibri" panose="020F0502020204030204" pitchFamily="34" charset="-122"/>
                <a:cs typeface="Calibri" panose="020F0502020204030204"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p:spPr>
        <p:txBody>
          <a:bodyPr/>
          <a:lstStyle/>
          <a:p>
            <a:endParaRPr lang="en-IN"/>
          </a:p>
        </p:txBody>
      </p:sp>
      <p:sp>
        <p:nvSpPr>
          <p:cNvPr id="14" name="Text 12"/>
          <p:cNvSpPr/>
          <p:nvPr/>
        </p:nvSpPr>
        <p:spPr>
          <a:xfrm>
            <a:off x="3749040" y="1828800"/>
            <a:ext cx="1645920" cy="1645920"/>
          </a:xfrm>
          <a:prstGeom prst="rect">
            <a:avLst/>
          </a:prstGeom>
          <a:noFill/>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p:spPr>
        <p:txBody>
          <a:bodyPr wrap="square" rtlCol="0" anchor="ctr"/>
          <a:lstStyle/>
          <a:p>
            <a:pPr marL="0" indent="0" algn="ctr">
              <a:buNone/>
            </a:pPr>
            <a:r>
              <a:rPr lang="en-US" sz="1100" i="1" dirty="0">
                <a:solidFill>
                  <a:srgbClr val="607D8B"/>
                </a:solidFill>
                <a:latin typeface="Calibri" panose="020F0502020204030204" charset="0"/>
                <a:ea typeface="Calibri" panose="020F0502020204030204" pitchFamily="34" charset="-122"/>
                <a:cs typeface="Calibri" panose="020F0502020204030204" pitchFamily="34" charset="-120"/>
              </a:rPr>
              <a:t>[Insert your project demo video.</a:t>
            </a:r>
            <a:endParaRPr lang="en-US" sz="1100" dirty="0"/>
          </a:p>
          <a:p>
            <a:pPr marL="0" indent="0" algn="ctr">
              <a:buNone/>
            </a:pPr>
            <a:r>
              <a:rPr lang="en-US" sz="1100" i="1" dirty="0">
                <a:solidFill>
                  <a:srgbClr val="607D8B"/>
                </a:solidFill>
                <a:latin typeface="Calibri" panose="020F0502020204030204" charset="0"/>
                <a:ea typeface="Calibri" panose="020F0502020204030204" pitchFamily="34" charset="-122"/>
                <a:cs typeface="Calibri" panose="020F0502020204030204"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532689"/>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anose="020F0502020204030204" pitchFamily="34" charset="-122"/>
                <a:cs typeface="Calibri" panose="020F0502020204030204"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p:cNvPicPr>
            <a:picLocks noChangeAspect="1"/>
          </p:cNvPicPr>
          <p:nvPr/>
        </p:nvPicPr>
        <p:blipFill>
          <a:blip r:embed="rId1">
            <a:duotone>
              <a:schemeClr val="accent1">
                <a:shade val="45000"/>
                <a:satMod val="135000"/>
              </a:schemeClr>
              <a:prstClr val="white"/>
            </a:duotone>
          </a:blip>
          <a:srcRect l="25397" t="26296" r="26825" b="29752"/>
          <a:stretch>
            <a:fillRect/>
          </a:stretch>
        </p:blipFill>
        <p:spPr>
          <a:xfrm>
            <a:off x="5974715" y="971550"/>
            <a:ext cx="2872740" cy="3006090"/>
          </a:xfrm>
          <a:prstGeom prst="rect">
            <a:avLst/>
          </a:prstGeom>
        </p:spPr>
      </p:pic>
      <p:sp>
        <p:nvSpPr>
          <p:cNvPr id="2" name="Text Box 1"/>
          <p:cNvSpPr txBox="1"/>
          <p:nvPr/>
        </p:nvSpPr>
        <p:spPr>
          <a:xfrm>
            <a:off x="233045" y="811530"/>
            <a:ext cx="5789930" cy="4402455"/>
          </a:xfrm>
          <a:prstGeom prst="rect">
            <a:avLst/>
          </a:prstGeom>
          <a:noFill/>
        </p:spPr>
        <p:txBody>
          <a:bodyPr wrap="square" rtlCol="0">
            <a:noAutofit/>
          </a:bodyPr>
          <a:p>
            <a:pPr marL="285750" indent="-285750">
              <a:buFont typeface="Arial" panose="020B0604020202020204" pitchFamily="34" charset="0"/>
              <a:buChar char="•"/>
            </a:pPr>
            <a:r>
              <a:rPr lang="en-US" altLang="en-GB"/>
              <a:t>This project successfully demonstrates how data analytics and AI tools can improve healthcare decision-making through meaningful insights and visualization.</a:t>
            </a:r>
            <a:endParaRPr lang="en-US" altLang="en-GB"/>
          </a:p>
          <a:p>
            <a:endParaRPr lang="en-US" altLang="en-GB"/>
          </a:p>
          <a:p>
            <a:pPr marL="285750" indent="-285750">
              <a:buFont typeface="Arial" panose="020B0604020202020204" pitchFamily="34" charset="0"/>
              <a:buChar char="•"/>
            </a:pPr>
            <a:r>
              <a:rPr lang="en-US" altLang="en-GB"/>
              <a:t>By analyzing hospital patient data and presenting it through interactive dashboards, the project helps identify operational inefficiencies, patient trends, and performance gaps.</a:t>
            </a:r>
            <a:endParaRPr lang="en-US" altLang="en-GB"/>
          </a:p>
          <a:p>
            <a:endParaRPr lang="en-US" altLang="en-GB"/>
          </a:p>
          <a:p>
            <a:pPr marL="285750" indent="-285750">
              <a:buFont typeface="Arial" panose="020B0604020202020204" pitchFamily="34" charset="0"/>
              <a:buChar char="•"/>
            </a:pPr>
            <a:r>
              <a:rPr lang="en-US" altLang="en-GB"/>
              <a:t>The integration of Power BI, Excel, and AI tools enables healthcare institutions to adopt a more proactive and data-driven approach to healthcare management. The project objectives were achieved successfully by transforming raw healthcare data into actionable business intelligence.</a:t>
            </a:r>
            <a:endParaRPr lang="en-GB" altLang="en-US"/>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25390" y="879475"/>
            <a:ext cx="4118610" cy="3677920"/>
          </a:xfrm>
          <a:prstGeom prst="rect">
            <a:avLst/>
          </a:prstGeom>
        </p:spPr>
      </p:pic>
      <p:sp>
        <p:nvSpPr>
          <p:cNvPr id="3" name="Text Box 2"/>
          <p:cNvSpPr txBox="1"/>
          <p:nvPr/>
        </p:nvSpPr>
        <p:spPr>
          <a:xfrm>
            <a:off x="258445" y="1048385"/>
            <a:ext cx="5279390" cy="3832860"/>
          </a:xfrm>
          <a:prstGeom prst="rect">
            <a:avLst/>
          </a:prstGeom>
        </p:spPr>
        <p:txBody>
          <a:bodyPr>
            <a:noAutofit/>
          </a:bodyPr>
          <a:p>
            <a:pPr>
              <a:buFont typeface="Arial" panose="020B0604020202020204"/>
              <a:buChar char="•"/>
            </a:pPr>
            <a:r>
              <a:rPr lang="en-US" altLang="zh-CN" sz="1600"/>
              <a:t>Integration of real-time healthcare data for live monitoring and analysis </a:t>
            </a:r>
            <a:endParaRPr lang="en-US" altLang="zh-CN" sz="1600"/>
          </a:p>
          <a:p>
            <a:pPr>
              <a:buFont typeface="Arial" panose="020B0604020202020204"/>
              <a:buChar char="•"/>
            </a:pPr>
            <a:r>
              <a:rPr lang="en-US" altLang="zh-CN" sz="1600"/>
              <a:t> Use of advanced AI and machine learning models for disease prediction and risk analysis </a:t>
            </a:r>
            <a:endParaRPr lang="en-US" altLang="zh-CN" sz="1600"/>
          </a:p>
          <a:p>
            <a:pPr>
              <a:buFont typeface="Arial" panose="020B0604020202020204"/>
              <a:buChar char="•"/>
            </a:pPr>
            <a:r>
              <a:rPr lang="en-US" altLang="zh-CN" sz="1600"/>
              <a:t> Development of mobile-friendly healthcare dashboards for accessibility </a:t>
            </a:r>
            <a:endParaRPr lang="en-US" altLang="zh-CN" sz="1600"/>
          </a:p>
          <a:p>
            <a:pPr>
              <a:buFont typeface="Arial" panose="020B0604020202020204"/>
              <a:buChar char="•"/>
            </a:pPr>
            <a:r>
              <a:rPr lang="en-US" altLang="zh-CN" sz="1600"/>
              <a:t> Integration with hospital management systems and cloud databases </a:t>
            </a:r>
            <a:endParaRPr lang="en-US" altLang="zh-CN" sz="1600"/>
          </a:p>
          <a:p>
            <a:pPr>
              <a:buFont typeface="Arial" panose="020B0604020202020204"/>
              <a:buChar char="•"/>
            </a:pPr>
            <a:r>
              <a:rPr lang="en-US" altLang="zh-CN" sz="1600"/>
              <a:t> Enhancement of dashboard interactivity with advanced analytics and forecasting features </a:t>
            </a:r>
            <a:endParaRPr lang="en-US" altLang="zh-CN" sz="1600"/>
          </a:p>
          <a:p>
            <a:pPr>
              <a:buFont typeface="Arial" panose="020B0604020202020204"/>
              <a:buChar char="•"/>
            </a:pPr>
            <a:r>
              <a:rPr lang="en-US" altLang="zh-CN" sz="1600"/>
              <a:t> Expansion of the project for large-scale healthcare organizations and smart healthcare systems </a:t>
            </a:r>
            <a:endParaRPr lang="en-US" altLang="zh-CN" sz="1600"/>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p:spPr>
        <p:txBody>
          <a:bodyPr wrap="square" rtlCol="0" anchor="ctr"/>
          <a:lstStyle/>
          <a:p>
            <a:pPr marL="0" indent="0" algn="ctr">
              <a:buNone/>
            </a:pPr>
            <a:r>
              <a:rPr lang="en-US" sz="1400" kern="0" spc="200" dirty="0">
                <a:latin typeface="Lato" panose="020F0502020204030203" pitchFamily="34" charset="0"/>
                <a:ea typeface="Calibri" panose="020F0502020204030204"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p:spPr>
        <p:txBody>
          <a:bodyPr wrap="square" lIns="91440" tIns="45720" rIns="91440" bIns="45720" rtlCol="0" anchor="ctr"/>
          <a:lstStyle/>
          <a:p>
            <a:pPr marL="0" indent="0" algn="ctr">
              <a:buNone/>
            </a:pPr>
            <a:r>
              <a:rPr lang="en-US" sz="1100" dirty="0">
                <a:latin typeface="Lato" panose="020F0502020204030203" pitchFamily="34" charset="0"/>
                <a:ea typeface="Calibri" panose="020F0502020204030204"/>
                <a:cs typeface="Arial" panose="020B0604020202020204" pitchFamily="34" charset="0"/>
              </a:rPr>
              <a:t>  LinkedIn  |   </a:t>
            </a:r>
            <a:r>
              <a:rPr lang="en-US" sz="1100" dirty="0" err="1">
                <a:latin typeface="Lato" panose="020F0502020204030203" pitchFamily="34" charset="0"/>
                <a:ea typeface="Calibri" panose="020F0502020204030204"/>
                <a:cs typeface="Arial" panose="020B0604020202020204" pitchFamily="34" charset="0"/>
              </a:rPr>
              <a:t>Edunet</a:t>
            </a:r>
            <a:r>
              <a:rPr lang="en-US" sz="1100" dirty="0">
                <a:latin typeface="Lato" panose="020F0502020204030203" pitchFamily="34" charset="0"/>
                <a:ea typeface="Calibri" panose="020F0502020204030204"/>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p:cNvSpPr txBox="1"/>
          <p:nvPr/>
        </p:nvSpPr>
        <p:spPr>
          <a:xfrm>
            <a:off x="2632982" y="1705295"/>
            <a:ext cx="3878036" cy="1175065"/>
          </a:xfrm>
          <a:prstGeom prst="rect">
            <a:avLst/>
          </a:prstGeom>
        </p:spPr>
        <p:txBody>
          <a:bodyPr wrap="square" lIns="0" tIns="0" rIns="0" bIns="0" rtlCol="0" anchor="t">
            <a:spAutoFit/>
          </a:bodyPr>
          <a:lstStyle/>
          <a:p>
            <a:pPr algn="ctr">
              <a:lnSpc>
                <a:spcPts val="10685"/>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endParaRPr lang="en-US" sz="5000" b="1" dirty="0">
              <a:solidFill>
                <a:srgbClr val="0D358D"/>
              </a:solidFill>
              <a:latin typeface="Lato" panose="020F0502020204030203" pitchFamily="34" charset="0"/>
              <a:ea typeface="Aileron Ultra-Bold"/>
              <a:cs typeface="Arial" panose="020B0604020202020204" pitchFamily="34" charset="0"/>
              <a:sym typeface="Aileron Ultra-Bold"/>
            </a:endParaRPr>
          </a:p>
        </p:txBody>
      </p:sp>
    </p:spTree>
    <p:custDataLst>
      <p:tags r:id="rId1"/>
    </p:custDataLst>
  </p:cSld>
  <p:clrMapOvr>
    <a:masterClrMapping/>
  </p:clrMapOvr>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SLIDE_THUMBNAIL_REFRESH" val="1"/>
</p:tagLst>
</file>

<file path=ppt/tags/tag5.xml><?xml version="1.0" encoding="utf-8"?>
<p:tagLst xmlns:p="http://schemas.openxmlformats.org/presentationml/2006/main">
  <p:tag name="ARTICULATE_SLIDE_THUMBNAIL_REFRESH" val="1"/>
</p:tagLst>
</file>

<file path=ppt/tags/tag6.xml><?xml version="1.0" encoding="utf-8"?>
<p:tagLst xmlns:p="http://schemas.openxmlformats.org/presentationml/2006/main">
  <p:tag name="ARTICULATE_SLIDE_THUMBNAIL_REFRESH" val="1"/>
</p:tagLst>
</file>

<file path=ppt/tags/tag7.xml><?xml version="1.0" encoding="utf-8"?>
<p:tagLst xmlns:p="http://schemas.openxmlformats.org/presentationml/2006/main">
  <p:tag name="KSO_WM_DIAGRAM_VIRTUALLY_FRAME" val="{&quot;height&quot;:303.03023622047243,&quot;left&quot;:4.1360629921259715,&quot;top&quot;:76.26976377952755,&quot;width&quot;:705.6}"/>
</p:tagLst>
</file>

<file path=ppt/tags/tag8.xml><?xml version="1.0" encoding="utf-8"?>
<p:tagLst xmlns:p="http://schemas.openxmlformats.org/presentationml/2006/main">
  <p:tag name="KSO_WM_DIAGRAM_VIRTUALLY_FRAME" val="{&quot;height&quot;:303.03023622047243,&quot;left&quot;:4.1360629921259715,&quot;top&quot;:76.26976377952755,&quot;width&quot;:705.6}"/>
</p:tagLst>
</file>

<file path=ppt/tags/tag9.xml><?xml version="1.0" encoding="utf-8"?>
<p:tagLst xmlns:p="http://schemas.openxmlformats.org/presentationml/2006/main">
  <p:tag name="KSO_WM_DIAGRAM_VIRTUALLY_FRAME" val="{&quot;height&quot;:303.03023622047243,&quot;left&quot;:4.1360629921259715,&quot;top&quot;:76.26976377952755,&quot;width&quot;:705.6}"/>
</p:tagLst>
</file>

<file path=ppt/tags/tag10.xml><?xml version="1.0" encoding="utf-8"?>
<p:tagLst xmlns:p="http://schemas.openxmlformats.org/presentationml/2006/main">
  <p:tag name="KSO_WM_DIAGRAM_VIRTUALLY_FRAME" val="{&quot;height&quot;:303.03023622047243,&quot;left&quot;:4.1360629921259715,&quot;top&quot;:76.26976377952755,&quot;width&quot;:705.6}"/>
</p:tagLst>
</file>

<file path=ppt/tags/tag11.xml><?xml version="1.0" encoding="utf-8"?>
<p:tagLst xmlns:p="http://schemas.openxmlformats.org/presentationml/2006/main">
  <p:tag name="KSO_WM_DIAGRAM_VIRTUALLY_FRAME" val="{&quot;height&quot;:303.03023622047243,&quot;left&quot;:4.1360629921259715,&quot;top&quot;:76.26976377952755,&quot;width&quot;:705.6}"/>
</p:tagLst>
</file>

<file path=ppt/tags/tag12.xml><?xml version="1.0" encoding="utf-8"?>
<p:tagLst xmlns:p="http://schemas.openxmlformats.org/presentationml/2006/main">
  <p:tag name="KSO_WM_DIAGRAM_VIRTUALLY_FRAME" val="{&quot;height&quot;:303.03023622047243,&quot;left&quot;:4.1360629921259715,&quot;top&quot;:76.26976377952755,&quot;width&quot;:705.6}"/>
</p:tagLst>
</file>

<file path=ppt/tags/tag13.xml><?xml version="1.0" encoding="utf-8"?>
<p:tagLst xmlns:p="http://schemas.openxmlformats.org/presentationml/2006/main">
  <p:tag name="KSO_WM_DIAGRAM_VIRTUALLY_FRAME" val="{&quot;height&quot;:303.03023622047243,&quot;left&quot;:4.1360629921259715,&quot;top&quot;:76.26976377952755,&quot;width&quot;:705.6}"/>
</p:tagLst>
</file>

<file path=ppt/tags/tag14.xml><?xml version="1.0" encoding="utf-8"?>
<p:tagLst xmlns:p="http://schemas.openxmlformats.org/presentationml/2006/main">
  <p:tag name="KSO_WM_DIAGRAM_VIRTUALLY_FRAME" val="{&quot;height&quot;:303.03023622047243,&quot;left&quot;:4.1360629921259715,&quot;top&quot;:76.26976377952755,&quot;width&quot;:705.6}"/>
</p:tagLst>
</file>

<file path=ppt/tags/tag15.xml><?xml version="1.0" encoding="utf-8"?>
<p:tagLst xmlns:p="http://schemas.openxmlformats.org/presentationml/2006/main">
  <p:tag name="KSO_WM_DIAGRAM_VIRTUALLY_FRAME" val="{&quot;height&quot;:303.03023622047243,&quot;left&quot;:4.1360629921259715,&quot;top&quot;:76.26976377952755,&quot;width&quot;:705.6}"/>
</p:tagLst>
</file>

<file path=ppt/tags/tag16.xml><?xml version="1.0" encoding="utf-8"?>
<p:tagLst xmlns:p="http://schemas.openxmlformats.org/presentationml/2006/main">
  <p:tag name="KSO_WM_DIAGRAM_VIRTUALLY_FRAME" val="{&quot;height&quot;:303.03023622047243,&quot;left&quot;:4.1360629921259715,&quot;top&quot;:76.26976377952755,&quot;width&quot;:705.6}"/>
</p:tagLst>
</file>

<file path=ppt/tags/tag17.xml><?xml version="1.0" encoding="utf-8"?>
<p:tagLst xmlns:p="http://schemas.openxmlformats.org/presentationml/2006/main">
  <p:tag name="KSO_WM_DIAGRAM_VIRTUALLY_FRAME" val="{&quot;height&quot;:303.03023622047243,&quot;left&quot;:4.1360629921259715,&quot;top&quot;:76.26976377952755,&quot;width&quot;:705.6}"/>
</p:tagLst>
</file>

<file path=ppt/tags/tag18.xml><?xml version="1.0" encoding="utf-8"?>
<p:tagLst xmlns:p="http://schemas.openxmlformats.org/presentationml/2006/main">
  <p:tag name="KSO_WM_DIAGRAM_VIRTUALLY_FRAME" val="{&quot;height&quot;:303.03023622047243,&quot;left&quot;:4.1360629921259715,&quot;top&quot;:76.26976377952755,&quot;width&quot;:705.6}"/>
</p:tagLst>
</file>

<file path=ppt/tags/tag19.xml><?xml version="1.0" encoding="utf-8"?>
<p:tagLst xmlns:p="http://schemas.openxmlformats.org/presentationml/2006/main">
  <p:tag name="KSO_WM_DIAGRAM_VIRTUALLY_FRAME" val="{&quot;height&quot;:303.03023622047243,&quot;left&quot;:4.1360629921259715,&quot;top&quot;:76.26976377952755,&quot;width&quot;:705.6}"/>
</p:tagLst>
</file>

<file path=ppt/tags/tag20.xml><?xml version="1.0" encoding="utf-8"?>
<p:tagLst xmlns:p="http://schemas.openxmlformats.org/presentationml/2006/main">
  <p:tag name="KSO_WM_DIAGRAM_VIRTUALLY_FRAME" val="{&quot;height&quot;:303.03023622047243,&quot;left&quot;:4.1360629921259715,&quot;top&quot;:76.26976377952755,&quot;width&quot;:705.6}"/>
</p:tagLst>
</file>

<file path=ppt/tags/tag21.xml><?xml version="1.0" encoding="utf-8"?>
<p:tagLst xmlns:p="http://schemas.openxmlformats.org/presentationml/2006/main">
  <p:tag name="KSO_WM_DIAGRAM_VIRTUALLY_FRAME" val="{&quot;height&quot;:303.03023622047243,&quot;left&quot;:4.1360629921259715,&quot;top&quot;:76.26976377952755,&quot;width&quot;:705.6}"/>
</p:tagLst>
</file>

<file path=ppt/tags/tag22.xml><?xml version="1.0" encoding="utf-8"?>
<p:tagLst xmlns:p="http://schemas.openxmlformats.org/presentationml/2006/main">
  <p:tag name="KSO_WM_DIAGRAM_VIRTUALLY_FRAME" val="{&quot;height&quot;:303.03023622047243,&quot;left&quot;:4.1360629921259715,&quot;top&quot;:76.26976377952755,&quot;width&quot;:705.6}"/>
</p:tagLst>
</file>

<file path=ppt/tags/tag23.xml><?xml version="1.0" encoding="utf-8"?>
<p:tagLst xmlns:p="http://schemas.openxmlformats.org/presentationml/2006/main">
  <p:tag name="ARTICULATE_SLIDE_THUMBNAIL_REFRESH" val="1"/>
</p:tagLst>
</file>

<file path=ppt/tags/tag24.xml><?xml version="1.0" encoding="utf-8"?>
<p:tagLst xmlns:p="http://schemas.openxmlformats.org/presentationml/2006/main">
  <p:tag name="ARTICULATE_SLIDE_THUMBNAIL_REFRESH" val="1"/>
</p:tagLst>
</file>

<file path=ppt/tags/tag25.xml><?xml version="1.0" encoding="utf-8"?>
<p:tagLst xmlns:p="http://schemas.openxmlformats.org/presentationml/2006/main">
  <p:tag name="ARTICULATE_SLIDE_THUMBNAIL_REFRESH" val="1"/>
</p:tagLst>
</file>

<file path=ppt/tags/tag26.xml><?xml version="1.0" encoding="utf-8"?>
<p:tagLst xmlns:p="http://schemas.openxmlformats.org/presentationml/2006/main">
  <p:tag name="ARTICULATE_SLIDE_THUMBNAIL_REFRESH" val="1"/>
</p:tagLst>
</file>

<file path=ppt/tags/tag27.xml><?xml version="1.0" encoding="utf-8"?>
<p:tagLst xmlns:p="http://schemas.openxmlformats.org/presentationml/2006/main">
  <p:tag name="ARTICULATE_SLIDE_THUMBNAIL_REFRESH" val="1"/>
</p:tagLst>
</file>

<file path=ppt/tags/tag28.xml><?xml version="1.0" encoding="utf-8"?>
<p:tagLst xmlns:p="http://schemas.openxmlformats.org/presentationml/2006/main">
  <p:tag name="ARTICULATE_SLIDE_THUMBNAIL_REFRESH" val="1"/>
</p:tagLst>
</file>

<file path=ppt/tags/tag29.xml><?xml version="1.0" encoding="utf-8"?>
<p:tagLst xmlns:p="http://schemas.openxmlformats.org/presentationml/2006/main">
  <p:tag name="ARTICULATE_DESIGN_ID_OFFICE THEME" val="ROGxgyxs"/>
  <p:tag name="ARTICULATE_PROJECT_OPEN" val="0"/>
  <p:tag name="ARTICULATE_SLIDE_COUNT" val="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4351</Words>
  <Application>WPS Presentation</Application>
  <PresentationFormat>On-screen Show (16:9)</PresentationFormat>
  <Paragraphs>125</Paragraphs>
  <Slides>11</Slides>
  <Notes>11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11</vt:i4>
      </vt:variant>
    </vt:vector>
  </HeadingPairs>
  <TitlesOfParts>
    <vt:vector size="28" baseType="lpstr">
      <vt:lpstr>Arial</vt:lpstr>
      <vt:lpstr>SimSun</vt:lpstr>
      <vt:lpstr>Wingdings</vt:lpstr>
      <vt:lpstr>Aileron Bold</vt:lpstr>
      <vt:lpstr>Segoe Print</vt:lpstr>
      <vt:lpstr>Aileron</vt:lpstr>
      <vt:lpstr>Lato</vt:lpstr>
      <vt:lpstr>Calibri</vt:lpstr>
      <vt:lpstr>Calibri</vt:lpstr>
      <vt:lpstr>Times New Roman</vt:lpstr>
      <vt:lpstr>Calibri</vt:lpstr>
      <vt:lpstr>Arial</vt:lpstr>
      <vt:lpstr>Calibri</vt:lpstr>
      <vt:lpstr>Aileron Ultra-Bold</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creator>PptxGenJS</dc:creator>
  <dc:subject>PptxGenJS Presentation</dc:subject>
  <cp:lastModifiedBy>Syed Sana Ahmad</cp:lastModifiedBy>
  <cp:revision>29</cp:revision>
  <dcterms:created xsi:type="dcterms:W3CDTF">2026-02-18T09:17:00Z</dcterms:created>
  <dcterms:modified xsi:type="dcterms:W3CDTF">2026-05-30T10:41:35Z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y fmtid="{D5CDD505-2E9C-101B-9397-08002B2CF9AE}" pid="4" name="ICV">
    <vt:lpwstr>C40D4476D9D34DC0A94F8BAB75DC1C07_13</vt:lpwstr>
  </property>
  <property fmtid="{D5CDD505-2E9C-101B-9397-08002B2CF9AE}" pid="5" name="KSOProductBuildVer">
    <vt:lpwstr>2057-12.2.0.23202</vt:lpwstr>
  </property>
</Properties>
</file>